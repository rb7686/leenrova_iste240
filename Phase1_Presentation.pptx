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Carelia" panose="020B0604020202020204" charset="0"/>
      <p:regular r:id="rId6"/>
    </p:embeddedFont>
    <p:embeddedFont>
      <p:font typeface="DM Sans" pitchFamily="2" charset="0"/>
      <p:regular r:id="rId7"/>
    </p:embeddedFont>
    <p:embeddedFont>
      <p:font typeface="DM San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06-Feb-26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17" Type="http://schemas.openxmlformats.org/officeDocument/2006/relationships/image" Target="../media/image28.png"/><Relationship Id="rId2" Type="http://schemas.openxmlformats.org/officeDocument/2006/relationships/image" Target="../media/image1.jpeg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63033" y="6195861"/>
            <a:ext cx="6914093" cy="5028432"/>
          </a:xfrm>
          <a:custGeom>
            <a:avLst/>
            <a:gdLst/>
            <a:ahLst/>
            <a:cxnLst/>
            <a:rect l="l" t="t" r="r" b="b"/>
            <a:pathLst>
              <a:path w="6914093" h="5028432">
                <a:moveTo>
                  <a:pt x="0" y="0"/>
                </a:moveTo>
                <a:lnTo>
                  <a:pt x="6914093" y="0"/>
                </a:lnTo>
                <a:lnTo>
                  <a:pt x="6914093" y="5028431"/>
                </a:lnTo>
                <a:lnTo>
                  <a:pt x="0" y="502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136383" y="3523196"/>
            <a:ext cx="10228058" cy="1710875"/>
          </a:xfrm>
          <a:custGeom>
            <a:avLst/>
            <a:gdLst/>
            <a:ahLst/>
            <a:cxnLst/>
            <a:rect l="l" t="t" r="r" b="b"/>
            <a:pathLst>
              <a:path w="10228058" h="1710875">
                <a:moveTo>
                  <a:pt x="0" y="0"/>
                </a:moveTo>
                <a:lnTo>
                  <a:pt x="10228058" y="0"/>
                </a:lnTo>
                <a:lnTo>
                  <a:pt x="10228058" y="1710875"/>
                </a:lnTo>
                <a:lnTo>
                  <a:pt x="0" y="1710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25403" y="2528033"/>
            <a:ext cx="10850017" cy="332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36"/>
              </a:lnSpc>
            </a:pPr>
            <a:r>
              <a:rPr lang="en-US" sz="1945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LeaRn</a:t>
            </a:r>
          </a:p>
        </p:txBody>
      </p:sp>
      <p:sp>
        <p:nvSpPr>
          <p:cNvPr id="6" name="Freeform 6"/>
          <p:cNvSpPr/>
          <p:nvPr/>
        </p:nvSpPr>
        <p:spPr>
          <a:xfrm>
            <a:off x="12456379" y="5404911"/>
            <a:ext cx="8246933" cy="6247677"/>
          </a:xfrm>
          <a:custGeom>
            <a:avLst/>
            <a:gdLst/>
            <a:ahLst/>
            <a:cxnLst/>
            <a:rect l="l" t="t" r="r" b="b"/>
            <a:pathLst>
              <a:path w="8246933" h="6247677">
                <a:moveTo>
                  <a:pt x="0" y="0"/>
                </a:moveTo>
                <a:lnTo>
                  <a:pt x="8246933" y="0"/>
                </a:lnTo>
                <a:lnTo>
                  <a:pt x="8246933" y="6247677"/>
                </a:lnTo>
                <a:lnTo>
                  <a:pt x="0" y="6247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08980" y="-1652824"/>
            <a:ext cx="8905028" cy="5575060"/>
          </a:xfrm>
          <a:custGeom>
            <a:avLst/>
            <a:gdLst/>
            <a:ahLst/>
            <a:cxnLst/>
            <a:rect l="l" t="t" r="r" b="b"/>
            <a:pathLst>
              <a:path w="8905028" h="5575060">
                <a:moveTo>
                  <a:pt x="0" y="0"/>
                </a:moveTo>
                <a:lnTo>
                  <a:pt x="8905029" y="0"/>
                </a:lnTo>
                <a:lnTo>
                  <a:pt x="8905029" y="5575060"/>
                </a:lnTo>
                <a:lnTo>
                  <a:pt x="0" y="5575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495846">
            <a:off x="-3929800" y="-2685694"/>
            <a:ext cx="5243739" cy="7338566"/>
          </a:xfrm>
          <a:custGeom>
            <a:avLst/>
            <a:gdLst/>
            <a:ahLst/>
            <a:cxnLst/>
            <a:rect l="l" t="t" r="r" b="b"/>
            <a:pathLst>
              <a:path w="5243739" h="7338566">
                <a:moveTo>
                  <a:pt x="0" y="0"/>
                </a:moveTo>
                <a:lnTo>
                  <a:pt x="5243739" y="0"/>
                </a:lnTo>
                <a:lnTo>
                  <a:pt x="5243739" y="7338565"/>
                </a:lnTo>
                <a:lnTo>
                  <a:pt x="0" y="7338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947584" y="5676888"/>
            <a:ext cx="6639489" cy="223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sz="3194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Leen Salaheddin  400003496</a:t>
            </a:r>
          </a:p>
          <a:p>
            <a:pPr algn="ctr">
              <a:lnSpc>
                <a:spcPts val="4472"/>
              </a:lnSpc>
            </a:pPr>
            <a:r>
              <a:rPr lang="en-US" sz="3194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Rova Badavi          761002045</a:t>
            </a:r>
          </a:p>
          <a:p>
            <a:pPr algn="ctr">
              <a:lnSpc>
                <a:spcPts val="4472"/>
              </a:lnSpc>
            </a:pPr>
            <a:endParaRPr lang="en-US" sz="3194">
              <a:solidFill>
                <a:srgbClr val="01070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4472"/>
              </a:lnSpc>
            </a:pPr>
            <a:r>
              <a:rPr lang="en-US" sz="3194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ISTE.240.602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191250" y="-615002"/>
            <a:ext cx="11905501" cy="12247451"/>
            <a:chOff x="0" y="0"/>
            <a:chExt cx="3135605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35605" cy="3225666"/>
            </a:xfrm>
            <a:custGeom>
              <a:avLst/>
              <a:gdLst/>
              <a:ahLst/>
              <a:cxnLst/>
              <a:rect l="l" t="t" r="r" b="b"/>
              <a:pathLst>
                <a:path w="3135605" h="3225666">
                  <a:moveTo>
                    <a:pt x="0" y="0"/>
                  </a:moveTo>
                  <a:lnTo>
                    <a:pt x="3135605" y="0"/>
                  </a:lnTo>
                  <a:lnTo>
                    <a:pt x="3135605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135605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2542679" y="6239585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6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6" y="4047415"/>
                </a:lnTo>
                <a:lnTo>
                  <a:pt x="55651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633368" y="3036005"/>
            <a:ext cx="9872113" cy="544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3"/>
              </a:lnSpc>
            </a:pPr>
            <a:r>
              <a:rPr lang="en-US" sz="4402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LeaRn is an interactive learning platform that helps users improve their knowledge and productivity through videos, quizzes, practice questions, and progress tracking, built mainly using Java Spring and MySQL.</a:t>
            </a:r>
          </a:p>
          <a:p>
            <a:pPr algn="l">
              <a:lnSpc>
                <a:spcPts val="6163"/>
              </a:lnSpc>
            </a:pPr>
            <a:endParaRPr lang="en-US" sz="4402">
              <a:solidFill>
                <a:srgbClr val="01070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" name="Freeform 8"/>
          <p:cNvSpPr/>
          <p:nvPr/>
        </p:nvSpPr>
        <p:spPr>
          <a:xfrm flipH="1">
            <a:off x="160912" y="6534960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1" y="0"/>
                </a:moveTo>
                <a:lnTo>
                  <a:pt x="0" y="0"/>
                </a:lnTo>
                <a:lnTo>
                  <a:pt x="0" y="3316969"/>
                </a:lnTo>
                <a:lnTo>
                  <a:pt x="3190321" y="3316969"/>
                </a:lnTo>
                <a:lnTo>
                  <a:pt x="319032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935246" y="1291893"/>
            <a:ext cx="10417508" cy="104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52"/>
              </a:lnSpc>
              <a:spcBef>
                <a:spcPct val="0"/>
              </a:spcBef>
            </a:pPr>
            <a:r>
              <a:rPr lang="en-US" sz="6108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What is LeaRn?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 rot="93123">
            <a:off x="6935401" y="3044882"/>
            <a:ext cx="3283874" cy="5122453"/>
            <a:chOff x="0" y="0"/>
            <a:chExt cx="1006794" cy="15704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06794" cy="1570479"/>
            </a:xfrm>
            <a:custGeom>
              <a:avLst/>
              <a:gdLst/>
              <a:ahLst/>
              <a:cxnLst/>
              <a:rect l="l" t="t" r="r" b="b"/>
              <a:pathLst>
                <a:path w="1006794" h="1570479">
                  <a:moveTo>
                    <a:pt x="16503" y="0"/>
                  </a:moveTo>
                  <a:lnTo>
                    <a:pt x="990291" y="0"/>
                  </a:lnTo>
                  <a:cubicBezTo>
                    <a:pt x="999405" y="0"/>
                    <a:pt x="1006794" y="7389"/>
                    <a:pt x="1006794" y="16503"/>
                  </a:cubicBezTo>
                  <a:lnTo>
                    <a:pt x="1006794" y="1553976"/>
                  </a:lnTo>
                  <a:cubicBezTo>
                    <a:pt x="1006794" y="1563090"/>
                    <a:pt x="999405" y="1570479"/>
                    <a:pt x="990291" y="1570479"/>
                  </a:cubicBezTo>
                  <a:lnTo>
                    <a:pt x="16503" y="1570479"/>
                  </a:lnTo>
                  <a:cubicBezTo>
                    <a:pt x="7389" y="1570479"/>
                    <a:pt x="0" y="1563090"/>
                    <a:pt x="0" y="1553976"/>
                  </a:cubicBezTo>
                  <a:lnTo>
                    <a:pt x="0" y="16503"/>
                  </a:lnTo>
                  <a:cubicBezTo>
                    <a:pt x="0" y="7389"/>
                    <a:pt x="7389" y="0"/>
                    <a:pt x="16503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38100" cap="sq">
              <a:solidFill>
                <a:srgbClr val="000000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06794" cy="1618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33549" y="2914356"/>
            <a:ext cx="3283874" cy="5202453"/>
            <a:chOff x="0" y="0"/>
            <a:chExt cx="1006794" cy="15950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6794" cy="1595006"/>
            </a:xfrm>
            <a:custGeom>
              <a:avLst/>
              <a:gdLst/>
              <a:ahLst/>
              <a:cxnLst/>
              <a:rect l="l" t="t" r="r" b="b"/>
              <a:pathLst>
                <a:path w="1006794" h="1595006">
                  <a:moveTo>
                    <a:pt x="25933" y="0"/>
                  </a:moveTo>
                  <a:lnTo>
                    <a:pt x="980861" y="0"/>
                  </a:lnTo>
                  <a:cubicBezTo>
                    <a:pt x="987739" y="0"/>
                    <a:pt x="994335" y="2732"/>
                    <a:pt x="999198" y="7596"/>
                  </a:cubicBezTo>
                  <a:cubicBezTo>
                    <a:pt x="1004062" y="12459"/>
                    <a:pt x="1006794" y="19055"/>
                    <a:pt x="1006794" y="25933"/>
                  </a:cubicBezTo>
                  <a:lnTo>
                    <a:pt x="1006794" y="1569073"/>
                  </a:lnTo>
                  <a:cubicBezTo>
                    <a:pt x="1006794" y="1575951"/>
                    <a:pt x="1004062" y="1582547"/>
                    <a:pt x="999198" y="1587410"/>
                  </a:cubicBezTo>
                  <a:cubicBezTo>
                    <a:pt x="994335" y="1592274"/>
                    <a:pt x="987739" y="1595006"/>
                    <a:pt x="980861" y="1595006"/>
                  </a:cubicBezTo>
                  <a:lnTo>
                    <a:pt x="25933" y="1595006"/>
                  </a:lnTo>
                  <a:cubicBezTo>
                    <a:pt x="19055" y="1595006"/>
                    <a:pt x="12459" y="1592274"/>
                    <a:pt x="7596" y="1587410"/>
                  </a:cubicBezTo>
                  <a:cubicBezTo>
                    <a:pt x="2732" y="1582547"/>
                    <a:pt x="0" y="1575951"/>
                    <a:pt x="0" y="1569073"/>
                  </a:cubicBezTo>
                  <a:lnTo>
                    <a:pt x="0" y="25933"/>
                  </a:lnTo>
                  <a:cubicBezTo>
                    <a:pt x="0" y="19055"/>
                    <a:pt x="2732" y="12459"/>
                    <a:pt x="7596" y="7596"/>
                  </a:cubicBezTo>
                  <a:cubicBezTo>
                    <a:pt x="12459" y="2732"/>
                    <a:pt x="19055" y="0"/>
                    <a:pt x="2593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06794" cy="1642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78655">
            <a:off x="7599222" y="2719985"/>
            <a:ext cx="1752527" cy="388742"/>
          </a:xfrm>
          <a:custGeom>
            <a:avLst/>
            <a:gdLst/>
            <a:ahLst/>
            <a:cxnLst/>
            <a:rect l="l" t="t" r="r" b="b"/>
            <a:pathLst>
              <a:path w="1752527" h="388742">
                <a:moveTo>
                  <a:pt x="0" y="0"/>
                </a:moveTo>
                <a:lnTo>
                  <a:pt x="1752527" y="0"/>
                </a:lnTo>
                <a:lnTo>
                  <a:pt x="1752527" y="388742"/>
                </a:lnTo>
                <a:lnTo>
                  <a:pt x="0" y="3887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3039187" y="5641025"/>
            <a:ext cx="4526667" cy="1757938"/>
            <a:chOff x="0" y="0"/>
            <a:chExt cx="1245511" cy="4836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5511" cy="483696"/>
            </a:xfrm>
            <a:custGeom>
              <a:avLst/>
              <a:gdLst/>
              <a:ahLst/>
              <a:cxnLst/>
              <a:rect l="l" t="t" r="r" b="b"/>
              <a:pathLst>
                <a:path w="1245511" h="483696">
                  <a:moveTo>
                    <a:pt x="3421" y="0"/>
                  </a:moveTo>
                  <a:lnTo>
                    <a:pt x="1242090" y="0"/>
                  </a:lnTo>
                  <a:cubicBezTo>
                    <a:pt x="1242998" y="0"/>
                    <a:pt x="1243868" y="360"/>
                    <a:pt x="1244509" y="1002"/>
                  </a:cubicBezTo>
                  <a:cubicBezTo>
                    <a:pt x="1245151" y="1643"/>
                    <a:pt x="1245511" y="2513"/>
                    <a:pt x="1245511" y="3421"/>
                  </a:cubicBezTo>
                  <a:lnTo>
                    <a:pt x="1245511" y="480275"/>
                  </a:lnTo>
                  <a:cubicBezTo>
                    <a:pt x="1245511" y="481183"/>
                    <a:pt x="1245151" y="482053"/>
                    <a:pt x="1244509" y="482694"/>
                  </a:cubicBezTo>
                  <a:cubicBezTo>
                    <a:pt x="1243868" y="483336"/>
                    <a:pt x="1242998" y="483696"/>
                    <a:pt x="1242090" y="483696"/>
                  </a:cubicBezTo>
                  <a:lnTo>
                    <a:pt x="3421" y="483696"/>
                  </a:lnTo>
                  <a:cubicBezTo>
                    <a:pt x="1531" y="483696"/>
                    <a:pt x="0" y="482165"/>
                    <a:pt x="0" y="480275"/>
                  </a:cubicBezTo>
                  <a:lnTo>
                    <a:pt x="0" y="3421"/>
                  </a:lnTo>
                  <a:cubicBezTo>
                    <a:pt x="0" y="1531"/>
                    <a:pt x="1531" y="0"/>
                    <a:pt x="342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45511" cy="531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568478" y="5580231"/>
            <a:ext cx="652536" cy="906299"/>
          </a:xfrm>
          <a:custGeom>
            <a:avLst/>
            <a:gdLst/>
            <a:ahLst/>
            <a:cxnLst/>
            <a:rect l="l" t="t" r="r" b="b"/>
            <a:pathLst>
              <a:path w="652536" h="906299">
                <a:moveTo>
                  <a:pt x="0" y="0"/>
                </a:moveTo>
                <a:lnTo>
                  <a:pt x="652535" y="0"/>
                </a:lnTo>
                <a:lnTo>
                  <a:pt x="652535" y="906299"/>
                </a:lnTo>
                <a:lnTo>
                  <a:pt x="0" y="9062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543992" y="1571116"/>
            <a:ext cx="3551782" cy="3713840"/>
          </a:xfrm>
          <a:custGeom>
            <a:avLst/>
            <a:gdLst/>
            <a:ahLst/>
            <a:cxnLst/>
            <a:rect l="l" t="t" r="r" b="b"/>
            <a:pathLst>
              <a:path w="3551782" h="3713840">
                <a:moveTo>
                  <a:pt x="0" y="0"/>
                </a:moveTo>
                <a:lnTo>
                  <a:pt x="3551781" y="0"/>
                </a:lnTo>
                <a:lnTo>
                  <a:pt x="3551781" y="3713840"/>
                </a:lnTo>
                <a:lnTo>
                  <a:pt x="0" y="37138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189567" y="6668367"/>
            <a:ext cx="2378808" cy="1414130"/>
          </a:xfrm>
          <a:custGeom>
            <a:avLst/>
            <a:gdLst/>
            <a:ahLst/>
            <a:cxnLst/>
            <a:rect l="l" t="t" r="r" b="b"/>
            <a:pathLst>
              <a:path w="2378808" h="1414130">
                <a:moveTo>
                  <a:pt x="0" y="0"/>
                </a:moveTo>
                <a:lnTo>
                  <a:pt x="2378808" y="0"/>
                </a:lnTo>
                <a:lnTo>
                  <a:pt x="2378808" y="1414131"/>
                </a:lnTo>
                <a:lnTo>
                  <a:pt x="0" y="14141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00773" y="6472533"/>
            <a:ext cx="3117981" cy="3106643"/>
          </a:xfrm>
          <a:custGeom>
            <a:avLst/>
            <a:gdLst/>
            <a:ahLst/>
            <a:cxnLst/>
            <a:rect l="l" t="t" r="r" b="b"/>
            <a:pathLst>
              <a:path w="3117981" h="3106643">
                <a:moveTo>
                  <a:pt x="0" y="0"/>
                </a:moveTo>
                <a:lnTo>
                  <a:pt x="3117981" y="0"/>
                </a:lnTo>
                <a:lnTo>
                  <a:pt x="3117981" y="3106643"/>
                </a:lnTo>
                <a:lnTo>
                  <a:pt x="0" y="31066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58170" y="1579251"/>
            <a:ext cx="2815734" cy="3212974"/>
          </a:xfrm>
          <a:custGeom>
            <a:avLst/>
            <a:gdLst/>
            <a:ahLst/>
            <a:cxnLst/>
            <a:rect l="l" t="t" r="r" b="b"/>
            <a:pathLst>
              <a:path w="2815734" h="3212974">
                <a:moveTo>
                  <a:pt x="0" y="0"/>
                </a:moveTo>
                <a:lnTo>
                  <a:pt x="2815733" y="0"/>
                </a:lnTo>
                <a:lnTo>
                  <a:pt x="2815733" y="3212974"/>
                </a:lnTo>
                <a:lnTo>
                  <a:pt x="0" y="3212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1686032" y="8304925"/>
            <a:ext cx="4354829" cy="1707823"/>
            <a:chOff x="0" y="0"/>
            <a:chExt cx="1198230" cy="46990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8230" cy="469907"/>
            </a:xfrm>
            <a:custGeom>
              <a:avLst/>
              <a:gdLst/>
              <a:ahLst/>
              <a:cxnLst/>
              <a:rect l="l" t="t" r="r" b="b"/>
              <a:pathLst>
                <a:path w="1198230" h="469907">
                  <a:moveTo>
                    <a:pt x="3556" y="0"/>
                  </a:moveTo>
                  <a:lnTo>
                    <a:pt x="1194674" y="0"/>
                  </a:lnTo>
                  <a:cubicBezTo>
                    <a:pt x="1195617" y="0"/>
                    <a:pt x="1196521" y="375"/>
                    <a:pt x="1197188" y="1041"/>
                  </a:cubicBezTo>
                  <a:cubicBezTo>
                    <a:pt x="1197855" y="1708"/>
                    <a:pt x="1198230" y="2613"/>
                    <a:pt x="1198230" y="3556"/>
                  </a:cubicBezTo>
                  <a:lnTo>
                    <a:pt x="1198230" y="466351"/>
                  </a:lnTo>
                  <a:cubicBezTo>
                    <a:pt x="1198230" y="467294"/>
                    <a:pt x="1197855" y="468199"/>
                    <a:pt x="1197188" y="468866"/>
                  </a:cubicBezTo>
                  <a:cubicBezTo>
                    <a:pt x="1196521" y="469532"/>
                    <a:pt x="1195617" y="469907"/>
                    <a:pt x="1194674" y="469907"/>
                  </a:cubicBezTo>
                  <a:lnTo>
                    <a:pt x="3556" y="469907"/>
                  </a:lnTo>
                  <a:cubicBezTo>
                    <a:pt x="2613" y="469907"/>
                    <a:pt x="1708" y="469532"/>
                    <a:pt x="1041" y="468866"/>
                  </a:cubicBezTo>
                  <a:cubicBezTo>
                    <a:pt x="375" y="468199"/>
                    <a:pt x="0" y="467294"/>
                    <a:pt x="0" y="466351"/>
                  </a:cubicBezTo>
                  <a:lnTo>
                    <a:pt x="0" y="3556"/>
                  </a:lnTo>
                  <a:cubicBezTo>
                    <a:pt x="0" y="2613"/>
                    <a:pt x="375" y="1708"/>
                    <a:pt x="1041" y="1041"/>
                  </a:cubicBezTo>
                  <a:cubicBezTo>
                    <a:pt x="1708" y="375"/>
                    <a:pt x="2613" y="0"/>
                    <a:pt x="355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198230" cy="51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5210379" y="8210867"/>
            <a:ext cx="652536" cy="906299"/>
          </a:xfrm>
          <a:custGeom>
            <a:avLst/>
            <a:gdLst/>
            <a:ahLst/>
            <a:cxnLst/>
            <a:rect l="l" t="t" r="r" b="b"/>
            <a:pathLst>
              <a:path w="652536" h="906299">
                <a:moveTo>
                  <a:pt x="0" y="0"/>
                </a:moveTo>
                <a:lnTo>
                  <a:pt x="652535" y="0"/>
                </a:lnTo>
                <a:lnTo>
                  <a:pt x="652535" y="906300"/>
                </a:lnTo>
                <a:lnTo>
                  <a:pt x="0" y="906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385209" y="7243792"/>
            <a:ext cx="3123941" cy="2215158"/>
          </a:xfrm>
          <a:custGeom>
            <a:avLst/>
            <a:gdLst/>
            <a:ahLst/>
            <a:cxnLst/>
            <a:rect l="l" t="t" r="r" b="b"/>
            <a:pathLst>
              <a:path w="3123941" h="2215158">
                <a:moveTo>
                  <a:pt x="0" y="0"/>
                </a:moveTo>
                <a:lnTo>
                  <a:pt x="3123941" y="0"/>
                </a:lnTo>
                <a:lnTo>
                  <a:pt x="3123941" y="2215158"/>
                </a:lnTo>
                <a:lnTo>
                  <a:pt x="0" y="22151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466702" y="3147638"/>
            <a:ext cx="2598668" cy="1323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9"/>
              </a:lnSpc>
            </a:pPr>
            <a:r>
              <a:rPr lang="en-US" sz="1877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Username and password for every user to ensure security and privacy.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117423" y="2765489"/>
            <a:ext cx="3123941" cy="2215158"/>
          </a:xfrm>
          <a:custGeom>
            <a:avLst/>
            <a:gdLst/>
            <a:ahLst/>
            <a:cxnLst/>
            <a:rect l="l" t="t" r="r" b="b"/>
            <a:pathLst>
              <a:path w="3123941" h="2215158">
                <a:moveTo>
                  <a:pt x="0" y="0"/>
                </a:moveTo>
                <a:lnTo>
                  <a:pt x="3123941" y="0"/>
                </a:lnTo>
                <a:lnTo>
                  <a:pt x="3123941" y="2215158"/>
                </a:lnTo>
                <a:lnTo>
                  <a:pt x="0" y="22151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5400000" flipV="1">
            <a:off x="2149305" y="4442283"/>
            <a:ext cx="2641953" cy="1873385"/>
          </a:xfrm>
          <a:custGeom>
            <a:avLst/>
            <a:gdLst/>
            <a:ahLst/>
            <a:cxnLst/>
            <a:rect l="l" t="t" r="r" b="b"/>
            <a:pathLst>
              <a:path w="2641953" h="1873385">
                <a:moveTo>
                  <a:pt x="0" y="1873385"/>
                </a:moveTo>
                <a:lnTo>
                  <a:pt x="2641952" y="1873385"/>
                </a:lnTo>
                <a:lnTo>
                  <a:pt x="2641952" y="0"/>
                </a:lnTo>
                <a:lnTo>
                  <a:pt x="0" y="0"/>
                </a:lnTo>
                <a:lnTo>
                  <a:pt x="0" y="1873385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2779456">
            <a:off x="11273343" y="5970851"/>
            <a:ext cx="1395032" cy="1395032"/>
          </a:xfrm>
          <a:custGeom>
            <a:avLst/>
            <a:gdLst/>
            <a:ahLst/>
            <a:cxnLst/>
            <a:rect l="l" t="t" r="r" b="b"/>
            <a:pathLst>
              <a:path w="1395032" h="1395032">
                <a:moveTo>
                  <a:pt x="0" y="0"/>
                </a:moveTo>
                <a:lnTo>
                  <a:pt x="1395032" y="0"/>
                </a:lnTo>
                <a:lnTo>
                  <a:pt x="1395032" y="1395032"/>
                </a:lnTo>
                <a:lnTo>
                  <a:pt x="0" y="139503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935246" y="1076992"/>
            <a:ext cx="10417508" cy="98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32"/>
              </a:lnSpc>
              <a:spcBef>
                <a:spcPct val="0"/>
              </a:spcBef>
            </a:pPr>
            <a:r>
              <a:rPr lang="en-US" sz="5808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Features &amp; User Scenario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03024" y="3259425"/>
            <a:ext cx="3116269" cy="430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Practice Questions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56113" y="3777845"/>
            <a:ext cx="2410089" cy="1349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9"/>
              </a:lnSpc>
            </a:pPr>
            <a:r>
              <a:rPr lang="en-US" sz="1977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Different level questions that will be given for users to learn.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101329" y="3196454"/>
            <a:ext cx="2640503" cy="1516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9"/>
              </a:lnSpc>
            </a:pPr>
            <a:r>
              <a:rPr lang="en-US" sz="2177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Support users while studying by answering questions and practice.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66631" y="5084917"/>
            <a:ext cx="3116269" cy="430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Quizzes!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19721" y="5577533"/>
            <a:ext cx="2410089" cy="1007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9"/>
              </a:lnSpc>
            </a:pPr>
            <a:r>
              <a:rPr lang="en-US" sz="1977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Testing the progress level after studying the resources given.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85145" y="2389008"/>
            <a:ext cx="2161783" cy="40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9"/>
              </a:lnSpc>
              <a:spcBef>
                <a:spcPct val="0"/>
              </a:spcBef>
            </a:pPr>
            <a:r>
              <a:rPr lang="en-US" sz="236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Login System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0811" y="6920862"/>
            <a:ext cx="2161783" cy="74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0"/>
              </a:lnSpc>
            </a:pPr>
            <a:r>
              <a:rPr lang="en-US" sz="2476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Academic level Test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64731" y="7625965"/>
            <a:ext cx="2060632" cy="1555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6"/>
              </a:lnSpc>
            </a:pPr>
            <a:r>
              <a:rPr lang="en-US" sz="1775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Users will be tested on specific courses to see their level and getresources accordingly.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863446" y="2635149"/>
            <a:ext cx="3116269" cy="430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AI Chat System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090314" y="5720107"/>
            <a:ext cx="3116269" cy="430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Donation Link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241364" y="6108486"/>
            <a:ext cx="3327114" cy="113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9"/>
              </a:lnSpc>
            </a:pPr>
            <a:r>
              <a:rPr lang="en-US" sz="2177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Donations to improve our website and users’ academic journey.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305312" y="8481042"/>
            <a:ext cx="3116269" cy="430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62"/>
              </a:lnSpc>
              <a:spcBef>
                <a:spcPct val="0"/>
              </a:spcBef>
            </a:pPr>
            <a:r>
              <a:rPr lang="en-US" sz="254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Leaderboard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970859" y="8983939"/>
            <a:ext cx="3654482" cy="754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9"/>
              </a:lnSpc>
            </a:pPr>
            <a:r>
              <a:rPr lang="en-US" sz="2177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Competition between users on common courses.</a:t>
            </a:r>
          </a:p>
        </p:txBody>
      </p:sp>
      <p:sp>
        <p:nvSpPr>
          <p:cNvPr id="41" name="Freeform 41"/>
          <p:cNvSpPr/>
          <p:nvPr/>
        </p:nvSpPr>
        <p:spPr>
          <a:xfrm rot="-2779456">
            <a:off x="9907151" y="8651924"/>
            <a:ext cx="1395032" cy="1395032"/>
          </a:xfrm>
          <a:custGeom>
            <a:avLst/>
            <a:gdLst/>
            <a:ahLst/>
            <a:cxnLst/>
            <a:rect l="l" t="t" r="r" b="b"/>
            <a:pathLst>
              <a:path w="1395032" h="1395032">
                <a:moveTo>
                  <a:pt x="0" y="0"/>
                </a:moveTo>
                <a:lnTo>
                  <a:pt x="1395032" y="0"/>
                </a:lnTo>
                <a:lnTo>
                  <a:pt x="1395032" y="1395032"/>
                </a:lnTo>
                <a:lnTo>
                  <a:pt x="0" y="139503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8419" y="1029646"/>
            <a:ext cx="16456746" cy="9020824"/>
            <a:chOff x="0" y="0"/>
            <a:chExt cx="3469323" cy="19017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69324" cy="1901722"/>
            </a:xfrm>
            <a:custGeom>
              <a:avLst/>
              <a:gdLst/>
              <a:ahLst/>
              <a:cxnLst/>
              <a:rect l="l" t="t" r="r" b="b"/>
              <a:pathLst>
                <a:path w="3469324" h="1901722">
                  <a:moveTo>
                    <a:pt x="0" y="0"/>
                  </a:moveTo>
                  <a:lnTo>
                    <a:pt x="3469324" y="0"/>
                  </a:lnTo>
                  <a:lnTo>
                    <a:pt x="3469324" y="1901722"/>
                  </a:lnTo>
                  <a:lnTo>
                    <a:pt x="0" y="1901722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38100" cap="sq">
              <a:solidFill>
                <a:srgbClr val="000000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469323" cy="1949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3837" y="676867"/>
            <a:ext cx="16607502" cy="9044187"/>
            <a:chOff x="0" y="0"/>
            <a:chExt cx="3501105" cy="1906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01105" cy="1906647"/>
            </a:xfrm>
            <a:custGeom>
              <a:avLst/>
              <a:gdLst/>
              <a:ahLst/>
              <a:cxnLst/>
              <a:rect l="l" t="t" r="r" b="b"/>
              <a:pathLst>
                <a:path w="3501105" h="1906647">
                  <a:moveTo>
                    <a:pt x="5128" y="0"/>
                  </a:moveTo>
                  <a:lnTo>
                    <a:pt x="3495977" y="0"/>
                  </a:lnTo>
                  <a:cubicBezTo>
                    <a:pt x="3497337" y="0"/>
                    <a:pt x="3498641" y="540"/>
                    <a:pt x="3499603" y="1502"/>
                  </a:cubicBezTo>
                  <a:cubicBezTo>
                    <a:pt x="3500565" y="2464"/>
                    <a:pt x="3501105" y="3768"/>
                    <a:pt x="3501105" y="5128"/>
                  </a:cubicBezTo>
                  <a:lnTo>
                    <a:pt x="3501105" y="1901520"/>
                  </a:lnTo>
                  <a:cubicBezTo>
                    <a:pt x="3501105" y="1902880"/>
                    <a:pt x="3500565" y="1904184"/>
                    <a:pt x="3499603" y="1905146"/>
                  </a:cubicBezTo>
                  <a:cubicBezTo>
                    <a:pt x="3498641" y="1906107"/>
                    <a:pt x="3497337" y="1906647"/>
                    <a:pt x="3495977" y="1906647"/>
                  </a:cubicBezTo>
                  <a:lnTo>
                    <a:pt x="5128" y="1906647"/>
                  </a:lnTo>
                  <a:cubicBezTo>
                    <a:pt x="3768" y="1906647"/>
                    <a:pt x="2464" y="1906107"/>
                    <a:pt x="1502" y="1905146"/>
                  </a:cubicBezTo>
                  <a:cubicBezTo>
                    <a:pt x="540" y="1904184"/>
                    <a:pt x="0" y="1902880"/>
                    <a:pt x="0" y="1901520"/>
                  </a:cubicBezTo>
                  <a:lnTo>
                    <a:pt x="0" y="5128"/>
                  </a:lnTo>
                  <a:cubicBezTo>
                    <a:pt x="0" y="3768"/>
                    <a:pt x="540" y="2464"/>
                    <a:pt x="1502" y="1502"/>
                  </a:cubicBezTo>
                  <a:cubicBezTo>
                    <a:pt x="2464" y="540"/>
                    <a:pt x="3768" y="0"/>
                    <a:pt x="512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501105" cy="1954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545311" y="135794"/>
            <a:ext cx="4581663" cy="1182902"/>
          </a:xfrm>
          <a:custGeom>
            <a:avLst/>
            <a:gdLst/>
            <a:ahLst/>
            <a:cxnLst/>
            <a:rect l="l" t="t" r="r" b="b"/>
            <a:pathLst>
              <a:path w="4581663" h="1182902">
                <a:moveTo>
                  <a:pt x="0" y="0"/>
                </a:moveTo>
                <a:lnTo>
                  <a:pt x="4581663" y="0"/>
                </a:lnTo>
                <a:lnTo>
                  <a:pt x="4581663" y="1182902"/>
                </a:lnTo>
                <a:lnTo>
                  <a:pt x="0" y="1182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618644" y="7308678"/>
            <a:ext cx="4821223" cy="2866073"/>
          </a:xfrm>
          <a:custGeom>
            <a:avLst/>
            <a:gdLst/>
            <a:ahLst/>
            <a:cxnLst/>
            <a:rect l="l" t="t" r="r" b="b"/>
            <a:pathLst>
              <a:path w="4821223" h="2866073">
                <a:moveTo>
                  <a:pt x="0" y="0"/>
                </a:moveTo>
                <a:lnTo>
                  <a:pt x="4821223" y="0"/>
                </a:lnTo>
                <a:lnTo>
                  <a:pt x="4821223" y="2866073"/>
                </a:lnTo>
                <a:lnTo>
                  <a:pt x="0" y="28660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272073" y="1185346"/>
            <a:ext cx="9743853" cy="117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35"/>
              </a:lnSpc>
              <a:spcBef>
                <a:spcPct val="0"/>
              </a:spcBef>
            </a:pPr>
            <a:r>
              <a:rPr lang="en-US" sz="681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Other Components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61603" y="3981141"/>
            <a:ext cx="7022846" cy="306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890" lvl="1" indent="-269945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We will implement a login system, video-based content, quizzes and practice questions, Leaderboard.</a:t>
            </a: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01070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39890" lvl="1" indent="-269945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Week 1-2: Research and Planning</a:t>
            </a:r>
          </a:p>
          <a:p>
            <a:pPr marL="539890" lvl="1" indent="-269945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Week 3-5: Back-end Development</a:t>
            </a:r>
          </a:p>
          <a:p>
            <a:pPr marL="539890" lvl="1" indent="-269945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Week 6-8: Front-end Development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23451" y="3165678"/>
            <a:ext cx="4346497" cy="605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Scope &amp; Timeline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5691" y="2288692"/>
            <a:ext cx="5366525" cy="61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Implementation Details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5691" y="3088974"/>
            <a:ext cx="12280225" cy="130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890" lvl="1" indent="-269945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Front-end: Bootstrap, CSS</a:t>
            </a:r>
          </a:p>
          <a:p>
            <a:pPr marL="539890" lvl="1" indent="-269945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Back-end: Java Spring</a:t>
            </a:r>
          </a:p>
          <a:p>
            <a:pPr marL="539890" lvl="1" indent="-269945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dirty="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Database: MySQL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5691" y="4804021"/>
            <a:ext cx="5366525" cy="605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1070A"/>
                </a:solidFill>
                <a:latin typeface="DM Sans Bold"/>
                <a:ea typeface="DM Sans Bold"/>
                <a:cs typeface="DM Sans Bold"/>
                <a:sym typeface="DM Sans Bold"/>
              </a:rPr>
              <a:t>Anticipated Challenges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8419" y="5532821"/>
            <a:ext cx="7805581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Differentiate with unique features beyond competitors (Khan Academy, Pearson, Chegg).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Implement a leaderboard that supports many users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Database Integration.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Accurately place users into levels based on initial test scores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dirty="0">
                <a:solidFill>
                  <a:srgbClr val="01070A"/>
                </a:solidFill>
                <a:latin typeface="DM Sans"/>
                <a:ea typeface="DM Sans"/>
                <a:cs typeface="DM Sans"/>
                <a:sym typeface="DM Sans"/>
              </a:rPr>
              <a:t>Make everything work hand in hand.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504747" y="4528254"/>
            <a:ext cx="6005343" cy="144569"/>
          </a:xfrm>
          <a:custGeom>
            <a:avLst/>
            <a:gdLst/>
            <a:ahLst/>
            <a:cxnLst/>
            <a:rect l="l" t="t" r="r" b="b"/>
            <a:pathLst>
              <a:path w="3333632" h="921295">
                <a:moveTo>
                  <a:pt x="0" y="0"/>
                </a:moveTo>
                <a:lnTo>
                  <a:pt x="3333632" y="0"/>
                </a:lnTo>
                <a:lnTo>
                  <a:pt x="3333632" y="921295"/>
                </a:lnTo>
                <a:lnTo>
                  <a:pt x="0" y="921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1" name="Freeform 19">
            <a:extLst>
              <a:ext uri="{FF2B5EF4-FFF2-40B4-BE49-F238E27FC236}">
                <a16:creationId xmlns:a16="http://schemas.microsoft.com/office/drawing/2014/main" id="{7E67CDF0-87CF-B280-DB98-DF5CE146A072}"/>
              </a:ext>
            </a:extLst>
          </p:cNvPr>
          <p:cNvSpPr/>
          <p:nvPr/>
        </p:nvSpPr>
        <p:spPr>
          <a:xfrm>
            <a:off x="1504747" y="9192741"/>
            <a:ext cx="6005343" cy="144569"/>
          </a:xfrm>
          <a:custGeom>
            <a:avLst/>
            <a:gdLst/>
            <a:ahLst/>
            <a:cxnLst/>
            <a:rect l="l" t="t" r="r" b="b"/>
            <a:pathLst>
              <a:path w="3333632" h="921295">
                <a:moveTo>
                  <a:pt x="0" y="0"/>
                </a:moveTo>
                <a:lnTo>
                  <a:pt x="3333632" y="0"/>
                </a:lnTo>
                <a:lnTo>
                  <a:pt x="3333632" y="921295"/>
                </a:lnTo>
                <a:lnTo>
                  <a:pt x="0" y="921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608A9197-8764-9A7A-A6C5-FF77498E767B}"/>
              </a:ext>
            </a:extLst>
          </p:cNvPr>
          <p:cNvSpPr/>
          <p:nvPr/>
        </p:nvSpPr>
        <p:spPr>
          <a:xfrm>
            <a:off x="10023912" y="7170109"/>
            <a:ext cx="6005343" cy="144569"/>
          </a:xfrm>
          <a:custGeom>
            <a:avLst/>
            <a:gdLst/>
            <a:ahLst/>
            <a:cxnLst/>
            <a:rect l="l" t="t" r="r" b="b"/>
            <a:pathLst>
              <a:path w="3333632" h="921295">
                <a:moveTo>
                  <a:pt x="0" y="0"/>
                </a:moveTo>
                <a:lnTo>
                  <a:pt x="3333632" y="0"/>
                </a:lnTo>
                <a:lnTo>
                  <a:pt x="3333632" y="921295"/>
                </a:lnTo>
                <a:lnTo>
                  <a:pt x="0" y="921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239</Words>
  <Application>Microsoft Office PowerPoint</Application>
  <PresentationFormat>Custom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DM Sans</vt:lpstr>
      <vt:lpstr>Arial</vt:lpstr>
      <vt:lpstr>Calibri</vt:lpstr>
      <vt:lpstr>DM Sans Bold</vt:lpstr>
      <vt:lpstr>Carelia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Illustrative Creative Literature Project Presentation</dc:title>
  <cp:lastModifiedBy>riwa baddawi</cp:lastModifiedBy>
  <cp:revision>2</cp:revision>
  <dcterms:created xsi:type="dcterms:W3CDTF">2006-08-16T00:00:00Z</dcterms:created>
  <dcterms:modified xsi:type="dcterms:W3CDTF">2026-02-06T06:43:46Z</dcterms:modified>
  <dc:identifier>DAHAhbp6g3Q</dc:identifier>
</cp:coreProperties>
</file>